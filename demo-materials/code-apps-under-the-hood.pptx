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42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Code Apps: 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Segoe UI"/>
              </a:defRPr>
            </a:pPr>
            <a:r>
              <a:t>Advanced patterns, runtime internals, and an AI-built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2743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Power Platform Tech Series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Companion to "Intro to Code Apps" — we pick up where that leaves 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42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What's Actually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Your React SPA is a small island inside a massive enterprise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The Platform Wraps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EF4444"/>
                </a:solidFill>
                <a:latin typeface="Segoe UI"/>
              </a:rPr>
              <a:t>•  AppType: "ClassicCanvasApp" </a:t>
            </a:r>
            <a:r>
              <a:rPr sz="1400">
                <a:solidFill>
                  <a:srgbClr val="FFFFFF"/>
                </a:solidFill>
                <a:latin typeface="Segoe UI"/>
              </a:rPr>
              <a:t>Your React 19 SPA is classified the same as a drag-and-drop canvas app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•  Iframes all the way down </a:t>
            </a:r>
            <a:r>
              <a:rPr sz="1400">
                <a:solidFill>
                  <a:srgbClr val="FFFFFF"/>
                </a:solidFill>
                <a:latin typeface="Segoe UI"/>
              </a:rPr>
              <a:t>Shell → player boot → iframe to runtime-app.powerapps.com → your code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•  77 script bundles registered </a:t>
            </a:r>
            <a:r>
              <a:rPr sz="1400">
                <a:solidFill>
                  <a:srgbClr val="FFFFFF"/>
                </a:solidFill>
                <a:latin typeface="Segoe UI"/>
              </a:rPr>
              <a:t>MSAL, legacy ADAL, WinJS, DOMPurify, Teams, Copilot, Floodgate surveys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•  230KB localization inlined </a:t>
            </a:r>
            <a:r>
              <a:rPr sz="1400">
                <a:solidFill>
                  <a:srgbClr val="FFFFFF"/>
                </a:solidFill>
                <a:latin typeface="Segoe UI"/>
              </a:rPr>
              <a:t>NFC, barcode, Cordova, China ICP, Siri Shortcuts… in every page load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94A3B8"/>
                </a:solidFill>
                <a:latin typeface="Segoe UI"/>
              </a:rPr>
              <a:t>•  55 feature gates </a:t>
            </a:r>
            <a:r>
              <a:rPr sz="1400">
                <a:solidFill>
                  <a:srgbClr val="FFFFFF"/>
                </a:solidFill>
                <a:latin typeface="Segoe UI"/>
              </a:rPr>
              <a:t>Microsoft toggles capabilities per-tenant around your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What You Get for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•  Server-side auth </a:t>
            </a:r>
            <a:r>
              <a:rPr sz="1400">
                <a:solidFill>
                  <a:srgbClr val="FFFFFF"/>
                </a:solidFill>
                <a:latin typeface="Segoe UI"/>
              </a:rPr>
              <a:t>No tokens in HTML. Entra ID authenticates before the page is served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8B5CF6"/>
                </a:solidFill>
                <a:latin typeface="Segoe UI"/>
              </a:rPr>
              <a:t>•  Copilot sidecar slot </a:t>
            </a:r>
            <a:r>
              <a:rPr sz="1400">
                <a:solidFill>
                  <a:srgbClr val="FFFFFF"/>
                </a:solidFill>
                <a:latin typeface="Segoe UI"/>
              </a:rPr>
              <a:t>320px panel, dedicated JS bundle, 185 references in the shell HTML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•  Sovereign cloud routing </a:t>
            </a:r>
            <a:r>
              <a:rPr sz="1400">
                <a:solidFill>
                  <a:srgbClr val="FFFFFF"/>
                </a:solidFill>
                <a:latin typeface="Segoe UI"/>
              </a:rPr>
              <a:t>.dynamics.cn, .microsoftdynamics.de, .appsplatform.us — all wired in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•  Accessibility scaffolding </a:t>
            </a:r>
            <a:r>
              <a:rPr sz="1400">
                <a:solidFill>
                  <a:srgbClr val="FFFFFF"/>
                </a:solidFill>
                <a:latin typeface="Segoe UI"/>
              </a:rPr>
              <a:t>ARIA roles, live regions, skip-to-content, progress bar stages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94A3B8"/>
                </a:solidFill>
                <a:latin typeface="Segoe UI"/>
              </a:rPr>
              <a:t>•  CSP + nonce security </a:t>
            </a:r>
            <a:r>
              <a:rPr sz="1400">
                <a:solidFill>
                  <a:srgbClr val="FFFFFF"/>
                </a:solidFill>
                <a:latin typeface="Segoe UI"/>
              </a:rPr>
              <a:t>Every inline script carries a nonce; CSP delivered via HTTP headers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0698480" cy="36576"/>
          </a:xfrm>
          <a:prstGeom prst="rect">
            <a:avLst/>
          </a:prstGeom>
          <a:solidFill>
            <a:srgbClr val="742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Source: browser dev tools export of the deployed app — I'll show you in the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Things Are Not Always What They Appear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Just because it works locally doesn’t mean it’s right — or that it’ll work deployed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54864" cy="3931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⚠  "Working" Data Connections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Implemented incorrectly — still appeared to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CCCCC"/>
                </a:solidFill>
                <a:latin typeface="Segoe UI"/>
              </a:rPr>
              <a:t>•  Generated types declare parentcustomerid </a:t>
            </a:r>
            <a:r>
              <a:rPr sz="1300">
                <a:solidFill>
                  <a:srgbClr val="FFFFFF"/>
                </a:solidFill>
                <a:latin typeface="Segoe UI"/>
              </a:rPr>
              <a:t>but Dataverse OData returns the GUID as _parentcustomerid_value at runtime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•  Contact form showed "None" for linked accounts </a:t>
            </a:r>
            <a:r>
              <a:rPr sz="1300">
                <a:solidFill>
                  <a:srgbClr val="FFFFFF"/>
                </a:solidFill>
                <a:latin typeface="Segoe UI"/>
              </a:rPr>
              <a:t>data was actually correct in Dataverse, the UI just couldn’t read it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CCCCC"/>
                </a:solidFill>
                <a:latin typeface="Segoe UI"/>
              </a:rPr>
              <a:t>•  Saving still worked fine </a:t>
            </a:r>
            <a:r>
              <a:rPr sz="1300">
                <a:solidFill>
                  <a:srgbClr val="FFFFFF"/>
                </a:solidFill>
                <a:latin typeface="Segoe UI"/>
              </a:rPr>
              <a:t>writes used different fields than reads, masking the bug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•  Fix: runtime fallback pattern </a:t>
            </a:r>
            <a:r>
              <a:rPr sz="1300">
                <a:solidFill>
                  <a:srgbClr val="FFFFFF"/>
                </a:solidFill>
                <a:latin typeface="Segoe UI"/>
              </a:rPr>
              <a:t>contact.parentcustomerid ?? (contact as Record)._parentcustomerid_value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91640"/>
            <a:ext cx="54864" cy="3931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Segoe UI"/>
              </a:defRPr>
            </a:pPr>
            <a:r>
              <a:t>❌  Agent Iframe: Local ≠ Deployed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Works perfectly on localhost — fails completely in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5603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CCCCCC"/>
                </a:solidFill>
                <a:latin typeface="Segoe UI"/>
              </a:rPr>
              <a:t>•  Direct Line + MSAL token exchange </a:t>
            </a:r>
            <a:r>
              <a:rPr sz="1300">
                <a:solidFill>
                  <a:srgbClr val="FFFFFF"/>
                </a:solidFill>
                <a:latin typeface="Segoe UI"/>
              </a:rPr>
              <a:t>copied a pattern that worked in a standalone Azure web app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EF4444"/>
                </a:solidFill>
                <a:latin typeface="Segoe UI"/>
              </a:rPr>
              <a:t>•  Code Apps use custom auth schemes (paauth, dynamicauth) </a:t>
            </a:r>
            <a:r>
              <a:rPr sz="1300">
                <a:solidFill>
                  <a:srgbClr val="FFFFFF"/>
                </a:solidFill>
                <a:latin typeface="Segoe UI"/>
              </a:rPr>
              <a:t>no public API to extract Bearer tokens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CCCCCC"/>
                </a:solidFill>
                <a:latin typeface="Segoe UI"/>
              </a:rPr>
              <a:t>•  Local dev masked the problem </a:t>
            </a:r>
            <a:r>
              <a:rPr sz="1300">
                <a:solidFill>
                  <a:srgbClr val="FFFFFF"/>
                </a:solidFill>
                <a:latin typeface="Segoe UI"/>
              </a:rPr>
              <a:t>Power Platform’s iframe host obscured the token exchange failures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•  Fix: pivot to Copilot Studio iframe embed </a:t>
            </a:r>
            <a:r>
              <a:rPr sz="1300">
                <a:solidFill>
                  <a:srgbClr val="FFFFFF"/>
                </a:solidFill>
                <a:latin typeface="Segoe UI"/>
              </a:rPr>
              <a:t>same environment = session flows natively, zero packages added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943600"/>
            <a:ext cx="106984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BBF24"/>
                </a:solidFill>
                <a:latin typeface="Segoe UI"/>
              </a:defRPr>
            </a:pPr>
            <a:r>
              <a:t>Lesson: the Power Platform runtime is not a standard web host — test deployed, not just local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Built 100% by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18 phases, zero hand-written scaffolding, every decision tracked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The Agentic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•  Claude Code drove every phase </a:t>
            </a:r>
            <a:r>
              <a:rPr sz="1400">
                <a:solidFill>
                  <a:srgbClr val="FFFFFF"/>
                </a:solidFill>
                <a:latin typeface="Segoe UI"/>
              </a:rPr>
              <a:t>Scaffolding, CRUD, UI, AI integration, Kanban board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•  Iterative discovery </a:t>
            </a:r>
            <a:r>
              <a:rPr sz="1400">
                <a:solidFill>
                  <a:srgbClr val="FFFFFF"/>
                </a:solidFill>
                <a:latin typeface="Segoe UI"/>
              </a:rPr>
              <a:t>Each phase started with research prompts, then build, then polish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•  Tracked decisions </a:t>
            </a:r>
            <a:r>
              <a:rPr sz="1400">
                <a:solidFill>
                  <a:srgbClr val="FFFFFF"/>
                </a:solidFill>
                <a:latin typeface="Segoe UI"/>
              </a:rPr>
              <a:t>docs/tracked/ has every prompt, gotcha, and fix documented per phase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F4444"/>
                </a:solidFill>
                <a:latin typeface="Segoe UI"/>
              </a:rPr>
              <a:t>•  Real gotchas found by AI </a:t>
            </a:r>
            <a:r>
              <a:rPr sz="1400">
                <a:solidFill>
                  <a:srgbClr val="FFFFFF"/>
                </a:solidFill>
                <a:latin typeface="Segoe UI"/>
              </a:rPr>
              <a:t>Polymorphic lookups, $select bug, HashRouter requirement, OData bind syntax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The Dashboard: Simpler Than You 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8B5CF6"/>
                </a:solidFill>
                <a:latin typeface="Segoe UI"/>
              </a:rPr>
              <a:t>•  705 lines, zero chart libraries </a:t>
            </a:r>
            <a:r>
              <a:rPr sz="1400">
                <a:solidFill>
                  <a:srgbClr val="FFFFFF"/>
                </a:solidFill>
                <a:latin typeface="Segoe UI"/>
              </a:rPr>
              <a:t>Pure CSS + SVG. Donut chart = circle with stroke-dasharray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•  One prompt rebuilt it </a:t>
            </a:r>
            <a:r>
              <a:rPr sz="1400">
                <a:solidFill>
                  <a:srgbClr val="FFFFFF"/>
                </a:solidFill>
                <a:latin typeface="Segoe UI"/>
              </a:rPr>
              <a:t>"Drop Chart.js and rebuild with pure CSS/SVG" → done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•  Every viz is clickable </a:t>
            </a:r>
            <a:r>
              <a:rPr sz="1400">
                <a:solidFill>
                  <a:srgbClr val="FFFFFF"/>
                </a:solidFill>
                <a:latin typeface="Segoe UI"/>
              </a:rPr>
              <a:t>KPI cards, status rows, priority bars all drill down to filtered tables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•  Kanban board: 1,117 lines </a:t>
            </a:r>
            <a:r>
              <a:rPr sz="1400">
                <a:solidFill>
                  <a:srgbClr val="FFFFFF"/>
                </a:solidFill>
                <a:latin typeface="Segoe UI"/>
              </a:rPr>
              <a:t>4 columns, cross-entity drag-drop, floating toolbar, priority gradients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72000"/>
            <a:ext cx="10698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94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Dataverse</a:t>
            </a:r>
            <a:br/>
            <a:r>
              <a:t>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onsolas"/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394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Build</a:t>
            </a:r>
            <a:br/>
            <a:r>
              <a:t>Phases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onsolas"/>
              </a:defRPr>
            </a:pPr>
            <a:r>
              <a:t>705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5394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Dashboard</a:t>
            </a:r>
            <a:br/>
            <a:r>
              <a:t>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5394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Chart</a:t>
            </a:r>
            <a:br/>
            <a:r>
              <a:t>Libraries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59" y="4846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59" y="53949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Deploy</a:t>
            </a:r>
            <a:br/>
            <a:r>
              <a:t>Command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Consolas"/>
              </a:defRPr>
            </a:pPr>
            <a:r>
              <a:t>npm run build &amp;&amp; pac code push  —  that's the entire 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Patterns That Pay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Standard React patterns — the platform doesn't fight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20116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Segoe UI"/>
              </a:defRPr>
            </a:pPr>
            <a:r>
              <a:t>TanStack Query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Ctrl+K command palette searches</a:t>
            </a:r>
            <a:br/>
            <a:r>
              <a:t>all 6 entities with zero API calls.</a:t>
            </a:r>
            <a:br/>
            <a:r>
              <a:t>It reads the query cache directly.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nsolas"/>
              </a:defRPr>
            </a:pPr>
            <a:r>
              <a:t>useQueryClient().getQueryData(["accounts"])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4864" cy="2011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Zustand Store (27 lines)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Quick-create pills in the nav open</a:t>
            </a:r>
            <a:br/>
            <a:r>
              <a:t>the right form on the right page.</a:t>
            </a:r>
            <a:br/>
            <a:r>
              <a:t>No prop drilling, no context nesting.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nsolas"/>
              </a:defRPr>
            </a:pPr>
            <a:r>
              <a:t>useQuickCreateStore().open("action-items", { defaultTaskType })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54864" cy="2011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dnd-kit + Dataverse Mutations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80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Drag a card to parking lot →</a:t>
            </a:r>
            <a:br/>
            <a:r>
              <a:t>PATCH tdvsp_pinned = true.</a:t>
            </a:r>
            <a:br/>
            <a:r>
              <a:t>Within-column reorder persists to localStorage.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nsolas"/>
              </a:defRPr>
            </a:pPr>
            <a:r>
              <a:t>useSortable() + useMutation(updateItem)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023360"/>
            <a:ext cx="54864" cy="2011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Tailwind v4 Dark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4805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Segoe UI"/>
              </a:defRPr>
            </a:pPr>
            <a:r>
              <a:t>Class-based dark mode works inside</a:t>
            </a:r>
            <a:br/>
            <a:r>
              <a:t>the Power Platform iframe. Media</a:t>
            </a:r>
            <a:br/>
            <a:r>
              <a:t>queries don't — the host controls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Consolas"/>
              </a:defRPr>
            </a:pPr>
            <a:r>
              <a:t>@custom-variant dark (&amp;:where(.dark, .dark *))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Let Me Show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103120"/>
            <a:ext cx="210312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BBF24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7589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  <a:latin typeface="Segoe UI"/>
              </a:rPr>
              <a:t>•  ❶  Dashboard — KPIs, donut chart, drill down into filtered data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  <a:latin typeface="Segoe UI"/>
              </a:rPr>
              <a:t>•  ❷  Kanban Board — drag to parking lot, watch Dataverse update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  <a:latin typeface="Segoe UI"/>
              </a:rPr>
              <a:t>•  ❸  Ctrl+K — search all entities instantly from the query cache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  <a:latin typeface="Segoe UI"/>
              </a:rPr>
              <a:t>•  ❹  AI Extraction — paste meeting notes, watch action items appear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  <a:latin typeface="Segoe UI"/>
              </a:rPr>
              <a:t>•  ❺  Dark mode toggle — class-based, works inside the iframe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  <a:latin typeface="Segoe UI"/>
              </a:rPr>
              <a:t>•  ❻  Dev tools peek — see the runtime we just talked about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CCCCCC"/>
                </a:solidFill>
                <a:latin typeface="Segoe UI"/>
              </a:rPr>
              <a:t>•  ❼  Deploy — npm run build &amp;&amp; pac code push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